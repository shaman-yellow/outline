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FE2"/>
    <a:srgbClr val="DAD49E"/>
    <a:srgbClr val="CAC0E6"/>
    <a:srgbClr val="A3D1F1"/>
    <a:srgbClr val="FFCCCC"/>
    <a:srgbClr val="98D4D4"/>
    <a:srgbClr val="DB9DB8"/>
    <a:srgbClr val="E78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6B295-81EE-41DD-BC00-AEC236A708B9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04FEA-175D-4E0B-BC87-51F2983ED5F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04FEA-175D-4E0B-BC87-51F2983ED5F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48353-FEE1-4FFE-8441-D682091A7D4B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E7B4A-FD78-404E-B432-C452B14DB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72672" y="2672668"/>
            <a:ext cx="96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质量控制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74452" y="3369336"/>
            <a:ext cx="2462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PCA</a:t>
            </a:r>
            <a:r>
              <a:rPr lang="zh-CN" altLang="en-US" sz="1400" b="1" dirty="0"/>
              <a:t>降维和</a:t>
            </a:r>
            <a:r>
              <a:rPr lang="en-US" altLang="zh-CN" sz="1400" b="1" dirty="0"/>
              <a:t>UMAP</a:t>
            </a:r>
            <a:r>
              <a:rPr lang="zh-CN" altLang="en-US" sz="1400" b="1" dirty="0"/>
              <a:t>聚类分群</a:t>
            </a:r>
          </a:p>
        </p:txBody>
      </p:sp>
      <p:sp>
        <p:nvSpPr>
          <p:cNvPr id="4" name="文本框 7"/>
          <p:cNvSpPr txBox="1"/>
          <p:nvPr/>
        </p:nvSpPr>
        <p:spPr>
          <a:xfrm>
            <a:off x="3999698" y="2440888"/>
            <a:ext cx="1969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筛选后得到的候选基因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8935450" y="4175192"/>
            <a:ext cx="1180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细胞间通讯</a:t>
            </a:r>
            <a:endParaRPr lang="en-US" altLang="zh-CN" sz="1400" b="1" dirty="0"/>
          </a:p>
        </p:txBody>
      </p:sp>
      <p:sp>
        <p:nvSpPr>
          <p:cNvPr id="6" name="文本框 12"/>
          <p:cNvSpPr txBox="1"/>
          <p:nvPr/>
        </p:nvSpPr>
        <p:spPr>
          <a:xfrm>
            <a:off x="8927110" y="4577511"/>
            <a:ext cx="1286081" cy="245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拟时序分析</a:t>
            </a:r>
            <a:endParaRPr lang="en-US" altLang="zh-CN" sz="1400" b="1" dirty="0"/>
          </a:p>
        </p:txBody>
      </p:sp>
      <p:sp>
        <p:nvSpPr>
          <p:cNvPr id="7" name="文本框 13"/>
          <p:cNvSpPr txBox="1"/>
          <p:nvPr/>
        </p:nvSpPr>
        <p:spPr>
          <a:xfrm>
            <a:off x="8917823" y="4988703"/>
            <a:ext cx="2245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err="1"/>
              <a:t>ReactomeGSA</a:t>
            </a:r>
            <a:r>
              <a:rPr lang="en-US" altLang="zh-CN" sz="1400" b="1" dirty="0"/>
              <a:t> </a:t>
            </a:r>
            <a:r>
              <a:rPr lang="zh-CN" altLang="en-US" sz="1400" b="1" dirty="0"/>
              <a:t>富集分析</a:t>
            </a:r>
            <a:endParaRPr lang="en-US" altLang="zh-CN" sz="1400" b="1" dirty="0"/>
          </a:p>
        </p:txBody>
      </p:sp>
      <p:sp>
        <p:nvSpPr>
          <p:cNvPr id="8" name="文本框 15"/>
          <p:cNvSpPr txBox="1"/>
          <p:nvPr/>
        </p:nvSpPr>
        <p:spPr>
          <a:xfrm>
            <a:off x="3381985" y="1322264"/>
            <a:ext cx="1046998" cy="245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差异分析</a:t>
            </a:r>
          </a:p>
        </p:txBody>
      </p:sp>
      <p:sp>
        <p:nvSpPr>
          <p:cNvPr id="9" name="文本框 16"/>
          <p:cNvSpPr txBox="1"/>
          <p:nvPr/>
        </p:nvSpPr>
        <p:spPr>
          <a:xfrm>
            <a:off x="4263342" y="1903364"/>
            <a:ext cx="1353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两个</a:t>
            </a:r>
            <a:r>
              <a:rPr lang="en-US" altLang="zh-CN" sz="1400" b="1" dirty="0"/>
              <a:t>DEG</a:t>
            </a:r>
            <a:r>
              <a:rPr lang="zh-CN" altLang="en-US" sz="1400" b="1" dirty="0"/>
              <a:t>交集</a:t>
            </a:r>
          </a:p>
        </p:txBody>
      </p:sp>
      <p:sp>
        <p:nvSpPr>
          <p:cNvPr id="10" name="文本框 18"/>
          <p:cNvSpPr txBox="1"/>
          <p:nvPr/>
        </p:nvSpPr>
        <p:spPr>
          <a:xfrm>
            <a:off x="1721911" y="2193218"/>
            <a:ext cx="1681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功能通路注释分析</a:t>
            </a:r>
          </a:p>
        </p:txBody>
      </p:sp>
      <p:sp>
        <p:nvSpPr>
          <p:cNvPr id="11" name="矩形 10"/>
          <p:cNvSpPr/>
          <p:nvPr/>
        </p:nvSpPr>
        <p:spPr>
          <a:xfrm>
            <a:off x="6009460" y="1934815"/>
            <a:ext cx="3633694" cy="324343"/>
          </a:xfrm>
          <a:prstGeom prst="rect">
            <a:avLst/>
          </a:prstGeom>
          <a:noFill/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12" name="矩形 11"/>
          <p:cNvSpPr/>
          <p:nvPr/>
        </p:nvSpPr>
        <p:spPr>
          <a:xfrm>
            <a:off x="7194582" y="2685530"/>
            <a:ext cx="859436" cy="285853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6456835" y="3373122"/>
            <a:ext cx="2413973" cy="292020"/>
          </a:xfrm>
          <a:prstGeom prst="rect">
            <a:avLst/>
          </a:prstGeom>
          <a:noFill/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14" name="矩形 13"/>
          <p:cNvSpPr/>
          <p:nvPr/>
        </p:nvSpPr>
        <p:spPr>
          <a:xfrm flipV="1">
            <a:off x="7110202" y="4079869"/>
            <a:ext cx="964191" cy="298510"/>
          </a:xfrm>
          <a:prstGeom prst="rect">
            <a:avLst/>
          </a:prstGeom>
          <a:noFill/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15" name="矩形 14"/>
          <p:cNvSpPr/>
          <p:nvPr/>
        </p:nvSpPr>
        <p:spPr>
          <a:xfrm>
            <a:off x="3349243" y="1339389"/>
            <a:ext cx="1046998" cy="276999"/>
          </a:xfrm>
          <a:prstGeom prst="rect">
            <a:avLst/>
          </a:prstGeom>
          <a:noFill/>
          <a:ln w="28575">
            <a:solidFill>
              <a:srgbClr val="CA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16" name="矩形 15"/>
          <p:cNvSpPr/>
          <p:nvPr/>
        </p:nvSpPr>
        <p:spPr>
          <a:xfrm>
            <a:off x="4270308" y="1922353"/>
            <a:ext cx="1357771" cy="277000"/>
          </a:xfrm>
          <a:prstGeom prst="rect">
            <a:avLst/>
          </a:prstGeom>
          <a:noFill/>
          <a:ln w="28575">
            <a:solidFill>
              <a:srgbClr val="FF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17" name="矩形 16"/>
          <p:cNvSpPr/>
          <p:nvPr/>
        </p:nvSpPr>
        <p:spPr>
          <a:xfrm>
            <a:off x="3913734" y="2437499"/>
            <a:ext cx="2109039" cy="307777"/>
          </a:xfrm>
          <a:prstGeom prst="rect">
            <a:avLst/>
          </a:prstGeom>
          <a:noFill/>
          <a:ln w="28575">
            <a:solidFill>
              <a:srgbClr val="A3D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18" name="文本框 110"/>
          <p:cNvSpPr txBox="1"/>
          <p:nvPr/>
        </p:nvSpPr>
        <p:spPr>
          <a:xfrm>
            <a:off x="7043810" y="4109170"/>
            <a:ext cx="1083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细胞注释</a:t>
            </a:r>
          </a:p>
        </p:txBody>
      </p:sp>
      <p:sp>
        <p:nvSpPr>
          <p:cNvPr id="19" name="文本框 150"/>
          <p:cNvSpPr txBox="1"/>
          <p:nvPr/>
        </p:nvSpPr>
        <p:spPr>
          <a:xfrm>
            <a:off x="5858782" y="1903364"/>
            <a:ext cx="399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宫腔粘连单细胞转录组数据集 </a:t>
            </a:r>
            <a:r>
              <a:rPr lang="en-US" altLang="zh-CN" dirty="0"/>
              <a:t> </a:t>
            </a:r>
            <a:r>
              <a:rPr lang="en-US" altLang="zh-CN" sz="1400" b="1" dirty="0"/>
              <a:t>GSE215968</a:t>
            </a:r>
          </a:p>
        </p:txBody>
      </p:sp>
      <p:sp>
        <p:nvSpPr>
          <p:cNvPr id="20" name="文本框 151"/>
          <p:cNvSpPr txBox="1"/>
          <p:nvPr/>
        </p:nvSpPr>
        <p:spPr>
          <a:xfrm>
            <a:off x="4514899" y="3010267"/>
            <a:ext cx="1020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机器学习</a:t>
            </a:r>
          </a:p>
        </p:txBody>
      </p:sp>
      <p:sp>
        <p:nvSpPr>
          <p:cNvPr id="21" name="矩形 20"/>
          <p:cNvSpPr/>
          <p:nvPr/>
        </p:nvSpPr>
        <p:spPr>
          <a:xfrm>
            <a:off x="4537344" y="3003943"/>
            <a:ext cx="945011" cy="307777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22" name="文本框 153"/>
          <p:cNvSpPr txBox="1"/>
          <p:nvPr/>
        </p:nvSpPr>
        <p:spPr>
          <a:xfrm>
            <a:off x="4579011" y="3499928"/>
            <a:ext cx="952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关键基因</a:t>
            </a:r>
          </a:p>
        </p:txBody>
      </p:sp>
      <p:sp>
        <p:nvSpPr>
          <p:cNvPr id="23" name="矩形 22"/>
          <p:cNvSpPr/>
          <p:nvPr/>
        </p:nvSpPr>
        <p:spPr>
          <a:xfrm>
            <a:off x="4531541" y="3501711"/>
            <a:ext cx="1000165" cy="281556"/>
          </a:xfrm>
          <a:prstGeom prst="rect">
            <a:avLst/>
          </a:prstGeom>
          <a:noFill/>
          <a:ln w="28575">
            <a:solidFill>
              <a:srgbClr val="DB9D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24" name="文本框 158"/>
          <p:cNvSpPr txBox="1"/>
          <p:nvPr/>
        </p:nvSpPr>
        <p:spPr>
          <a:xfrm>
            <a:off x="4531650" y="4771125"/>
            <a:ext cx="11470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生物标志物</a:t>
            </a:r>
          </a:p>
        </p:txBody>
      </p:sp>
      <p:sp>
        <p:nvSpPr>
          <p:cNvPr id="25" name="矩形 24"/>
          <p:cNvSpPr/>
          <p:nvPr/>
        </p:nvSpPr>
        <p:spPr>
          <a:xfrm>
            <a:off x="4479785" y="4762053"/>
            <a:ext cx="1149760" cy="316849"/>
          </a:xfrm>
          <a:prstGeom prst="rect">
            <a:avLst/>
          </a:prstGeom>
          <a:noFill/>
          <a:ln w="28575">
            <a:solidFill>
              <a:srgbClr val="83D9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26" name="文本框 160"/>
          <p:cNvSpPr txBox="1"/>
          <p:nvPr/>
        </p:nvSpPr>
        <p:spPr>
          <a:xfrm flipH="1">
            <a:off x="1560462" y="4206515"/>
            <a:ext cx="12942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免疫浸润分析</a:t>
            </a:r>
          </a:p>
        </p:txBody>
      </p:sp>
      <p:sp>
        <p:nvSpPr>
          <p:cNvPr id="27" name="文本框 162"/>
          <p:cNvSpPr txBox="1"/>
          <p:nvPr/>
        </p:nvSpPr>
        <p:spPr>
          <a:xfrm>
            <a:off x="1220640" y="3366749"/>
            <a:ext cx="17076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列线图构建和评估</a:t>
            </a:r>
          </a:p>
        </p:txBody>
      </p:sp>
      <p:sp>
        <p:nvSpPr>
          <p:cNvPr id="28" name="文本框 163"/>
          <p:cNvSpPr txBox="1"/>
          <p:nvPr/>
        </p:nvSpPr>
        <p:spPr>
          <a:xfrm>
            <a:off x="1491478" y="3775667"/>
            <a:ext cx="1501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GSEA</a:t>
            </a:r>
            <a:r>
              <a:rPr lang="zh-CN" altLang="en-US" sz="1400" b="1" dirty="0"/>
              <a:t>富集分析</a:t>
            </a:r>
            <a:endParaRPr lang="en-US" altLang="zh-CN" sz="1400" b="1" dirty="0"/>
          </a:p>
        </p:txBody>
      </p:sp>
      <p:sp>
        <p:nvSpPr>
          <p:cNvPr id="29" name="文本框 164"/>
          <p:cNvSpPr txBox="1"/>
          <p:nvPr/>
        </p:nvSpPr>
        <p:spPr>
          <a:xfrm>
            <a:off x="1536607" y="537596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分子调控网络</a:t>
            </a:r>
          </a:p>
        </p:txBody>
      </p:sp>
      <p:sp>
        <p:nvSpPr>
          <p:cNvPr id="30" name="文本框 165"/>
          <p:cNvSpPr txBox="1"/>
          <p:nvPr/>
        </p:nvSpPr>
        <p:spPr>
          <a:xfrm>
            <a:off x="1019588" y="4977556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染色体和亚细胞定位</a:t>
            </a:r>
          </a:p>
        </p:txBody>
      </p:sp>
      <p:sp>
        <p:nvSpPr>
          <p:cNvPr id="31" name="矩形 30"/>
          <p:cNvSpPr/>
          <p:nvPr/>
        </p:nvSpPr>
        <p:spPr>
          <a:xfrm>
            <a:off x="1741180" y="2183592"/>
            <a:ext cx="1681306" cy="307777"/>
          </a:xfrm>
          <a:prstGeom prst="rect">
            <a:avLst/>
          </a:prstGeom>
          <a:noFill/>
          <a:ln w="28575">
            <a:solidFill>
              <a:srgbClr val="CAC0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32" name="矩形 31"/>
          <p:cNvSpPr/>
          <p:nvPr/>
        </p:nvSpPr>
        <p:spPr>
          <a:xfrm>
            <a:off x="8870808" y="4158155"/>
            <a:ext cx="1151255" cy="297180"/>
          </a:xfrm>
          <a:prstGeom prst="rect">
            <a:avLst/>
          </a:prstGeom>
          <a:noFill/>
          <a:ln w="28575">
            <a:solidFill>
              <a:srgbClr val="CA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33" name="矩形 32"/>
          <p:cNvSpPr/>
          <p:nvPr/>
        </p:nvSpPr>
        <p:spPr>
          <a:xfrm>
            <a:off x="1015514" y="5768648"/>
            <a:ext cx="1728493" cy="306389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6963867" y="4755907"/>
            <a:ext cx="121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关键细胞</a:t>
            </a:r>
          </a:p>
        </p:txBody>
      </p:sp>
      <p:sp>
        <p:nvSpPr>
          <p:cNvPr id="35" name="矩形 34"/>
          <p:cNvSpPr/>
          <p:nvPr/>
        </p:nvSpPr>
        <p:spPr>
          <a:xfrm>
            <a:off x="7133944" y="4771112"/>
            <a:ext cx="872982" cy="306705"/>
          </a:xfrm>
          <a:prstGeom prst="rect">
            <a:avLst/>
          </a:prstGeom>
          <a:noFill/>
          <a:ln w="28575">
            <a:solidFill>
              <a:srgbClr val="DAD4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>
          <a:xfrm>
            <a:off x="2234549" y="2664119"/>
            <a:ext cx="1131054" cy="319135"/>
          </a:xfrm>
          <a:prstGeom prst="rect">
            <a:avLst/>
          </a:prstGeom>
          <a:noFill/>
          <a:ln w="28575">
            <a:solidFill>
              <a:srgbClr val="CA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37" name="文本框 10"/>
          <p:cNvSpPr txBox="1"/>
          <p:nvPr/>
        </p:nvSpPr>
        <p:spPr>
          <a:xfrm>
            <a:off x="2230810" y="2685604"/>
            <a:ext cx="1165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PPI</a:t>
            </a:r>
            <a:r>
              <a:rPr lang="zh-CN" altLang="en-US" sz="1400" b="1" dirty="0"/>
              <a:t>网络分析</a:t>
            </a:r>
          </a:p>
        </p:txBody>
      </p:sp>
      <p:sp>
        <p:nvSpPr>
          <p:cNvPr id="38" name="文本框 17"/>
          <p:cNvSpPr txBox="1"/>
          <p:nvPr/>
        </p:nvSpPr>
        <p:spPr>
          <a:xfrm>
            <a:off x="1027455" y="5768332"/>
            <a:ext cx="1817282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err="1"/>
              <a:t>GraphBAN</a:t>
            </a:r>
            <a:r>
              <a:rPr lang="zh-CN" altLang="en-US" sz="1400" b="1" dirty="0"/>
              <a:t>药物预测</a:t>
            </a:r>
            <a:endParaRPr lang="zh-CN" altLang="en-US" sz="1400" dirty="0"/>
          </a:p>
        </p:txBody>
      </p:sp>
      <p:sp>
        <p:nvSpPr>
          <p:cNvPr id="39" name="文本框 20"/>
          <p:cNvSpPr txBox="1"/>
          <p:nvPr/>
        </p:nvSpPr>
        <p:spPr>
          <a:xfrm>
            <a:off x="8904830" y="5407034"/>
            <a:ext cx="213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err="1"/>
              <a:t>scTenifoldKnk</a:t>
            </a:r>
            <a:r>
              <a:rPr lang="en-US" altLang="zh-CN" sz="1400" b="1" dirty="0"/>
              <a:t> </a:t>
            </a:r>
            <a:r>
              <a:rPr lang="zh-CN" altLang="en-US" sz="1400" b="1" dirty="0"/>
              <a:t>虚拟敲除</a:t>
            </a:r>
          </a:p>
        </p:txBody>
      </p:sp>
      <p:sp>
        <p:nvSpPr>
          <p:cNvPr id="41" name="文本框 41"/>
          <p:cNvSpPr txBox="1"/>
          <p:nvPr/>
        </p:nvSpPr>
        <p:spPr>
          <a:xfrm>
            <a:off x="4140716" y="69633"/>
            <a:ext cx="1616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客户自测序数据</a:t>
            </a:r>
          </a:p>
        </p:txBody>
      </p:sp>
      <p:sp>
        <p:nvSpPr>
          <p:cNvPr id="42" name="矩形 41"/>
          <p:cNvSpPr/>
          <p:nvPr/>
        </p:nvSpPr>
        <p:spPr>
          <a:xfrm>
            <a:off x="4184656" y="46972"/>
            <a:ext cx="1443424" cy="33043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55" name="文本框 30"/>
          <p:cNvSpPr txBox="1"/>
          <p:nvPr/>
        </p:nvSpPr>
        <p:spPr>
          <a:xfrm>
            <a:off x="3188839" y="55910"/>
            <a:ext cx="775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0000"/>
                </a:solidFill>
              </a:rPr>
              <a:t>训练集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6" name="文本框 24"/>
          <p:cNvSpPr txBox="1"/>
          <p:nvPr/>
        </p:nvSpPr>
        <p:spPr>
          <a:xfrm>
            <a:off x="1568635" y="4586289"/>
            <a:ext cx="1207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err="1"/>
              <a:t>GeneMANIA</a:t>
            </a:r>
            <a:endParaRPr lang="en-US" altLang="zh-CN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4263342" y="4221874"/>
            <a:ext cx="1567781" cy="297418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58" name="文本框 14"/>
          <p:cNvSpPr txBox="1"/>
          <p:nvPr/>
        </p:nvSpPr>
        <p:spPr>
          <a:xfrm>
            <a:off x="4437841" y="4236456"/>
            <a:ext cx="1259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表达量验证</a:t>
            </a:r>
          </a:p>
        </p:txBody>
      </p:sp>
      <p:sp>
        <p:nvSpPr>
          <p:cNvPr id="59" name="文本框 28"/>
          <p:cNvSpPr txBox="1"/>
          <p:nvPr/>
        </p:nvSpPr>
        <p:spPr>
          <a:xfrm>
            <a:off x="4969605" y="3768628"/>
            <a:ext cx="2683723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验证集 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GSE224093+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训练集</a:t>
            </a:r>
            <a:endParaRPr lang="zh-CN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904830" y="4576669"/>
            <a:ext cx="1151255" cy="297180"/>
          </a:xfrm>
          <a:prstGeom prst="rect">
            <a:avLst/>
          </a:prstGeom>
          <a:noFill/>
          <a:ln w="28575">
            <a:solidFill>
              <a:srgbClr val="98D4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61" name="矩形 60"/>
          <p:cNvSpPr/>
          <p:nvPr/>
        </p:nvSpPr>
        <p:spPr>
          <a:xfrm>
            <a:off x="8906544" y="4991890"/>
            <a:ext cx="2158971" cy="297180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62" name="矩形 61"/>
          <p:cNvSpPr/>
          <p:nvPr/>
        </p:nvSpPr>
        <p:spPr>
          <a:xfrm>
            <a:off x="8904830" y="5404729"/>
            <a:ext cx="2130520" cy="324902"/>
          </a:xfrm>
          <a:prstGeom prst="rect">
            <a:avLst/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65" name="矩形 64"/>
          <p:cNvSpPr/>
          <p:nvPr/>
        </p:nvSpPr>
        <p:spPr>
          <a:xfrm>
            <a:off x="1491478" y="3795922"/>
            <a:ext cx="1276500" cy="307777"/>
          </a:xfrm>
          <a:prstGeom prst="rect">
            <a:avLst/>
          </a:prstGeom>
          <a:noFill/>
          <a:ln w="28575">
            <a:solidFill>
              <a:srgbClr val="DAD4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1568635" y="4597561"/>
            <a:ext cx="1189776" cy="285235"/>
          </a:xfrm>
          <a:prstGeom prst="rect">
            <a:avLst/>
          </a:prstGeom>
          <a:noFill/>
          <a:ln w="28575">
            <a:solidFill>
              <a:srgbClr val="FF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1562823" y="4190561"/>
            <a:ext cx="1208972" cy="307777"/>
          </a:xfrm>
          <a:prstGeom prst="rect">
            <a:avLst/>
          </a:prstGeom>
          <a:noFill/>
          <a:ln w="28575">
            <a:solidFill>
              <a:srgbClr val="CA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1290317" y="3371699"/>
            <a:ext cx="1474070" cy="302827"/>
          </a:xfrm>
          <a:prstGeom prst="rect">
            <a:avLst/>
          </a:pr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1576687" y="5386474"/>
            <a:ext cx="1181724" cy="297418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1029918" y="4989430"/>
            <a:ext cx="1728493" cy="295904"/>
          </a:xfrm>
          <a:prstGeom prst="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80" name="矩形 79"/>
          <p:cNvSpPr/>
          <p:nvPr/>
        </p:nvSpPr>
        <p:spPr>
          <a:xfrm>
            <a:off x="9556677" y="5976544"/>
            <a:ext cx="827383" cy="331615"/>
          </a:xfrm>
          <a:prstGeom prst="rect">
            <a:avLst/>
          </a:prstGeom>
          <a:noFill/>
          <a:ln w="28575">
            <a:solidFill>
              <a:srgbClr val="CAC0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81" name="文本框 32"/>
          <p:cNvSpPr txBox="1"/>
          <p:nvPr/>
        </p:nvSpPr>
        <p:spPr>
          <a:xfrm>
            <a:off x="9529497" y="5990756"/>
            <a:ext cx="10652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下游基因</a:t>
            </a:r>
          </a:p>
        </p:txBody>
      </p:sp>
      <p:sp>
        <p:nvSpPr>
          <p:cNvPr id="82" name="矩形 81"/>
          <p:cNvSpPr/>
          <p:nvPr/>
        </p:nvSpPr>
        <p:spPr>
          <a:xfrm>
            <a:off x="9270201" y="6477188"/>
            <a:ext cx="1407585" cy="324902"/>
          </a:xfrm>
          <a:prstGeom prst="rect">
            <a:avLst/>
          </a:prstGeom>
          <a:noFill/>
          <a:ln w="28575">
            <a:solidFill>
              <a:srgbClr val="FF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83" name="文本框 36"/>
          <p:cNvSpPr txBox="1"/>
          <p:nvPr/>
        </p:nvSpPr>
        <p:spPr>
          <a:xfrm>
            <a:off x="9324078" y="6475040"/>
            <a:ext cx="1487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GO/KEGG</a:t>
            </a:r>
            <a:r>
              <a:rPr lang="zh-CN" altLang="en-US" sz="1400" b="1" dirty="0"/>
              <a:t>注释</a:t>
            </a:r>
          </a:p>
        </p:txBody>
      </p:sp>
      <p:sp>
        <p:nvSpPr>
          <p:cNvPr id="86" name="文本框 4"/>
          <p:cNvSpPr txBox="1"/>
          <p:nvPr/>
        </p:nvSpPr>
        <p:spPr>
          <a:xfrm>
            <a:off x="1817420" y="6190362"/>
            <a:ext cx="9810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分子对接</a:t>
            </a:r>
            <a:endParaRPr lang="zh-CN" altLang="en-US" sz="1400" dirty="0"/>
          </a:p>
        </p:txBody>
      </p:sp>
      <p:sp>
        <p:nvSpPr>
          <p:cNvPr id="87" name="矩形 86"/>
          <p:cNvSpPr/>
          <p:nvPr/>
        </p:nvSpPr>
        <p:spPr>
          <a:xfrm>
            <a:off x="1808242" y="6185826"/>
            <a:ext cx="954139" cy="291362"/>
          </a:xfrm>
          <a:prstGeom prst="rect">
            <a:avLst/>
          </a:prstGeom>
          <a:noFill/>
          <a:ln w="28575">
            <a:solidFill>
              <a:srgbClr val="CAC0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/>
          </a:p>
        </p:txBody>
      </p:sp>
      <p:sp>
        <p:nvSpPr>
          <p:cNvPr id="135" name="左大括号 134"/>
          <p:cNvSpPr/>
          <p:nvPr/>
        </p:nvSpPr>
        <p:spPr>
          <a:xfrm>
            <a:off x="8521189" y="4238055"/>
            <a:ext cx="314921" cy="13851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连接符 136"/>
          <p:cNvCxnSpPr/>
          <p:nvPr/>
        </p:nvCxnSpPr>
        <p:spPr>
          <a:xfrm>
            <a:off x="8024501" y="4924464"/>
            <a:ext cx="6264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>
          <a:xfrm>
            <a:off x="5037408" y="4519292"/>
            <a:ext cx="0" cy="319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>
            <a:off x="5022192" y="3727323"/>
            <a:ext cx="0" cy="541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7" idx="1"/>
            <a:endCxn id="10" idx="3"/>
          </p:cNvCxnSpPr>
          <p:nvPr/>
        </p:nvCxnSpPr>
        <p:spPr>
          <a:xfrm rot="10800000">
            <a:off x="3403218" y="2347108"/>
            <a:ext cx="510517" cy="2442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连接符: 肘形 187"/>
          <p:cNvCxnSpPr>
            <a:stCxn id="17" idx="1"/>
          </p:cNvCxnSpPr>
          <p:nvPr/>
        </p:nvCxnSpPr>
        <p:spPr>
          <a:xfrm rot="10800000" flipV="1">
            <a:off x="3404872" y="2591387"/>
            <a:ext cx="508862" cy="2401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7624300" y="2263443"/>
            <a:ext cx="0" cy="32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7626946" y="2976103"/>
            <a:ext cx="5658" cy="34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7600661" y="3691383"/>
            <a:ext cx="5658" cy="34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7600661" y="4384030"/>
            <a:ext cx="5658" cy="34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5012228" y="2685604"/>
            <a:ext cx="0" cy="330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H="1">
            <a:off x="5003102" y="3310520"/>
            <a:ext cx="5658" cy="236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右大括号 75"/>
          <p:cNvSpPr/>
          <p:nvPr/>
        </p:nvSpPr>
        <p:spPr>
          <a:xfrm>
            <a:off x="2899220" y="3566954"/>
            <a:ext cx="310042" cy="27042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76" idx="1"/>
            <a:endCxn id="25" idx="1"/>
          </p:cNvCxnSpPr>
          <p:nvPr/>
        </p:nvCxnSpPr>
        <p:spPr>
          <a:xfrm>
            <a:off x="3209262" y="4919097"/>
            <a:ext cx="1270523" cy="1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>
            <a:off x="5629545" y="4917133"/>
            <a:ext cx="1454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961853" y="5768648"/>
            <a:ext cx="0" cy="27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9979555" y="6296536"/>
            <a:ext cx="12948" cy="258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BF37E112-0B36-299C-019F-6DFD745A2462}"/>
              </a:ext>
            </a:extLst>
          </p:cNvPr>
          <p:cNvSpPr/>
          <p:nvPr/>
        </p:nvSpPr>
        <p:spPr>
          <a:xfrm>
            <a:off x="2988772" y="787399"/>
            <a:ext cx="1681306" cy="295604"/>
          </a:xfrm>
          <a:prstGeom prst="rect">
            <a:avLst/>
          </a:prstGeom>
          <a:noFill/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B2698E-537F-6616-9548-8C0E17C0AB06}"/>
              </a:ext>
            </a:extLst>
          </p:cNvPr>
          <p:cNvSpPr/>
          <p:nvPr/>
        </p:nvSpPr>
        <p:spPr>
          <a:xfrm>
            <a:off x="5098042" y="805284"/>
            <a:ext cx="1576876" cy="276999"/>
          </a:xfrm>
          <a:prstGeom prst="rect">
            <a:avLst/>
          </a:pr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sp>
        <p:nvSpPr>
          <p:cNvPr id="44" name="文本框 15">
            <a:extLst>
              <a:ext uri="{FF2B5EF4-FFF2-40B4-BE49-F238E27FC236}">
                <a16:creationId xmlns:a16="http://schemas.microsoft.com/office/drawing/2014/main" id="{7E1BE368-0639-4B1B-3026-B1D1A4992DB5}"/>
              </a:ext>
            </a:extLst>
          </p:cNvPr>
          <p:cNvSpPr txBox="1"/>
          <p:nvPr/>
        </p:nvSpPr>
        <p:spPr>
          <a:xfrm>
            <a:off x="3145113" y="798694"/>
            <a:ext cx="1452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疾病组和对照组</a:t>
            </a:r>
          </a:p>
        </p:txBody>
      </p:sp>
      <p:sp>
        <p:nvSpPr>
          <p:cNvPr id="46" name="文本框 15">
            <a:extLst>
              <a:ext uri="{FF2B5EF4-FFF2-40B4-BE49-F238E27FC236}">
                <a16:creationId xmlns:a16="http://schemas.microsoft.com/office/drawing/2014/main" id="{CCB1EF7D-05A0-41D8-9DCE-3781E254F658}"/>
              </a:ext>
            </a:extLst>
          </p:cNvPr>
          <p:cNvSpPr txBox="1"/>
          <p:nvPr/>
        </p:nvSpPr>
        <p:spPr>
          <a:xfrm>
            <a:off x="5088789" y="793090"/>
            <a:ext cx="1681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单基因高低表达组</a:t>
            </a:r>
          </a:p>
        </p:txBody>
      </p:sp>
      <p:sp>
        <p:nvSpPr>
          <p:cNvPr id="64" name="文本框 15">
            <a:extLst>
              <a:ext uri="{FF2B5EF4-FFF2-40B4-BE49-F238E27FC236}">
                <a16:creationId xmlns:a16="http://schemas.microsoft.com/office/drawing/2014/main" id="{804026C6-A1D4-B967-70F1-776C01449689}"/>
              </a:ext>
            </a:extLst>
          </p:cNvPr>
          <p:cNvSpPr txBox="1"/>
          <p:nvPr/>
        </p:nvSpPr>
        <p:spPr>
          <a:xfrm>
            <a:off x="5477768" y="1323746"/>
            <a:ext cx="1046998" cy="245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差异分析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E1A84D2-249A-B339-053A-AC70E518AB6F}"/>
              </a:ext>
            </a:extLst>
          </p:cNvPr>
          <p:cNvSpPr/>
          <p:nvPr/>
        </p:nvSpPr>
        <p:spPr>
          <a:xfrm>
            <a:off x="5445026" y="1340871"/>
            <a:ext cx="1046998" cy="276999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/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4933F708-5C86-A8A8-D607-FE9656883DC7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 rot="16200000" flipH="1">
            <a:off x="5210065" y="73713"/>
            <a:ext cx="415680" cy="10230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A3F9E9E7-2DE6-8B87-7EC1-78F6FA3800D1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 rot="5400000">
            <a:off x="4178112" y="70438"/>
            <a:ext cx="421284" cy="10352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FF58523-3D94-9B26-5657-8408839E346C}"/>
              </a:ext>
            </a:extLst>
          </p:cNvPr>
          <p:cNvCxnSpPr/>
          <p:nvPr/>
        </p:nvCxnSpPr>
        <p:spPr>
          <a:xfrm>
            <a:off x="3909423" y="1051842"/>
            <a:ext cx="0" cy="287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215E264D-B24C-F4D1-CFF5-8E82E995925F}"/>
              </a:ext>
            </a:extLst>
          </p:cNvPr>
          <p:cNvCxnSpPr/>
          <p:nvPr/>
        </p:nvCxnSpPr>
        <p:spPr>
          <a:xfrm>
            <a:off x="5976304" y="1051842"/>
            <a:ext cx="0" cy="287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C87D0376-BFFD-C922-3698-1579BEA76C28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rot="16200000" flipH="1">
            <a:off x="4262864" y="1226266"/>
            <a:ext cx="286976" cy="10672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EE1CB347-2DE9-45E7-EB04-AA9ABB40FE32}"/>
              </a:ext>
            </a:extLst>
          </p:cNvPr>
          <p:cNvCxnSpPr>
            <a:cxnSpLocks/>
          </p:cNvCxnSpPr>
          <p:nvPr/>
        </p:nvCxnSpPr>
        <p:spPr>
          <a:xfrm rot="5400000">
            <a:off x="5297386" y="1255910"/>
            <a:ext cx="304483" cy="10193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15">
            <a:extLst>
              <a:ext uri="{FF2B5EF4-FFF2-40B4-BE49-F238E27FC236}">
                <a16:creationId xmlns:a16="http://schemas.microsoft.com/office/drawing/2014/main" id="{FB553FA2-BC2C-0B55-0CCB-9A62E7D46F75}"/>
              </a:ext>
            </a:extLst>
          </p:cNvPr>
          <p:cNvSpPr txBox="1"/>
          <p:nvPr/>
        </p:nvSpPr>
        <p:spPr>
          <a:xfrm>
            <a:off x="6124464" y="333331"/>
            <a:ext cx="1681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FF0000"/>
                </a:solidFill>
              </a:rPr>
              <a:t>单基因</a:t>
            </a:r>
            <a:r>
              <a:rPr lang="en-US" altLang="zh-CN" sz="1400" b="1" dirty="0">
                <a:solidFill>
                  <a:srgbClr val="FF0000"/>
                </a:solidFill>
              </a:rPr>
              <a:t>ARLNC1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D689D02C-09C4-25E3-B2A8-597C56587B07}"/>
              </a:ext>
            </a:extLst>
          </p:cNvPr>
          <p:cNvCxnSpPr/>
          <p:nvPr/>
        </p:nvCxnSpPr>
        <p:spPr>
          <a:xfrm flipH="1">
            <a:off x="4913744" y="483080"/>
            <a:ext cx="1405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720275B3-82D8-C2BE-E4B0-F96C2FE9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188" y="1288578"/>
            <a:ext cx="446313" cy="37595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6805AD4-9A64-FD8A-EB86-5A340177E2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8657" y="1293222"/>
            <a:ext cx="335101" cy="3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A43BF1D5-8733-2A67-EB60-4D30A45D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52" y="1304229"/>
            <a:ext cx="446313" cy="37595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A01134E9-D4E0-0EA7-B474-DFF65D0491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84287" y="1322264"/>
            <a:ext cx="335101" cy="3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9C061384-76A7-CB19-21F0-C624B343A2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57946" y="1823086"/>
            <a:ext cx="437023" cy="30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AA283B79-96F8-D7D7-16CD-37CAC9C85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65" y="2096986"/>
            <a:ext cx="846615" cy="377953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3DF51FDA-11F0-060B-AF20-7A9F71DC67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946" b="3778"/>
          <a:stretch>
            <a:fillRect/>
          </a:stretch>
        </p:blipFill>
        <p:spPr>
          <a:xfrm flipH="1">
            <a:off x="1743023" y="2641482"/>
            <a:ext cx="386146" cy="362461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4C98F9A5-22FF-708F-76B9-DCCD8A637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1623" y="2968524"/>
            <a:ext cx="879334" cy="385127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24B7997C-C0C4-FA18-3F6E-248D76D8E8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18824" y="2980445"/>
            <a:ext cx="352535" cy="36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461AFBC6-645A-77F7-217B-549B7FDA04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96216" y="3444773"/>
            <a:ext cx="381240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A78B2362-BB25-E6B3-811E-05CC168D3A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639" y="4194821"/>
            <a:ext cx="895493" cy="391045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a16:creationId xmlns:a16="http://schemas.microsoft.com/office/drawing/2014/main" id="{7CB3BB16-58A7-F1D6-F8C4-667AF3D27AE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1245" y="3795922"/>
            <a:ext cx="439161" cy="313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2DEECA62-F23E-F497-9932-75330F5BE34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959" y="4168678"/>
            <a:ext cx="862698" cy="32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F1DE9C2F-9D78-09F1-2E8F-3C54096AF10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566" y="3334987"/>
            <a:ext cx="565816" cy="35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0B80332B-5300-B384-6AB8-1027A998D8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970" y="4909795"/>
            <a:ext cx="380375" cy="386685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59F5E71D-E4B1-179E-960A-273AD2877B6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"/>
          <a:stretch>
            <a:fillRect/>
          </a:stretch>
        </p:blipFill>
        <p:spPr>
          <a:xfrm>
            <a:off x="617910" y="5343285"/>
            <a:ext cx="859437" cy="340460"/>
          </a:xfrm>
          <a:prstGeom prst="rect">
            <a:avLst/>
          </a:prstGeom>
        </p:spPr>
      </p:pic>
      <p:pic>
        <p:nvPicPr>
          <p:cNvPr id="136" name="图片 135" descr="Figure 7">
            <a:extLst>
              <a:ext uri="{FF2B5EF4-FFF2-40B4-BE49-F238E27FC236}">
                <a16:creationId xmlns:a16="http://schemas.microsoft.com/office/drawing/2014/main" id="{B8936385-240B-3E97-753F-0D626B5883E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8" t="55414"/>
          <a:stretch>
            <a:fillRect/>
          </a:stretch>
        </p:blipFill>
        <p:spPr>
          <a:xfrm>
            <a:off x="984680" y="6159190"/>
            <a:ext cx="782376" cy="35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图片 137">
            <a:extLst>
              <a:ext uri="{FF2B5EF4-FFF2-40B4-BE49-F238E27FC236}">
                <a16:creationId xmlns:a16="http://schemas.microsoft.com/office/drawing/2014/main" id="{970DAFBC-2828-6272-096C-F305E5AEAB0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105" y="4537143"/>
            <a:ext cx="384602" cy="34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图片 138">
            <a:extLst>
              <a:ext uri="{FF2B5EF4-FFF2-40B4-BE49-F238E27FC236}">
                <a16:creationId xmlns:a16="http://schemas.microsoft.com/office/drawing/2014/main" id="{BD7374AA-3F07-7AB1-9F27-A324560583BA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3984" y="2685530"/>
            <a:ext cx="419489" cy="34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图片 139">
            <a:extLst>
              <a:ext uri="{FF2B5EF4-FFF2-40B4-BE49-F238E27FC236}">
                <a16:creationId xmlns:a16="http://schemas.microsoft.com/office/drawing/2014/main" id="{165E2F8F-F33F-D652-2BDC-E3C17F6A54EE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69020" y="3353618"/>
            <a:ext cx="477415" cy="300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图片 140">
            <a:extLst>
              <a:ext uri="{FF2B5EF4-FFF2-40B4-BE49-F238E27FC236}">
                <a16:creationId xmlns:a16="http://schemas.microsoft.com/office/drawing/2014/main" id="{DCAAE8DA-66D5-BDD3-CF46-3A14DD4DBF4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9341" y="3320934"/>
            <a:ext cx="452512" cy="369332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43134883-A94B-79C0-4894-047761BD12A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"/>
          <a:stretch>
            <a:fillRect/>
          </a:stretch>
        </p:blipFill>
        <p:spPr>
          <a:xfrm>
            <a:off x="8133984" y="4018746"/>
            <a:ext cx="481873" cy="37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AAC9C7EC-6C60-DD01-1513-3EC1B091E1D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43972" y="4137714"/>
            <a:ext cx="726803" cy="317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图片 145">
            <a:extLst>
              <a:ext uri="{FF2B5EF4-FFF2-40B4-BE49-F238E27FC236}">
                <a16:creationId xmlns:a16="http://schemas.microsoft.com/office/drawing/2014/main" id="{5C7B302D-E110-DD58-7109-E52C7E3832A0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68064" y="4533008"/>
            <a:ext cx="400003" cy="41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123EE89F-0416-69A6-19BF-45983FE93A2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72412" y="4946608"/>
            <a:ext cx="475440" cy="38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40487891-A05F-11B9-5C27-67D1611BF736}"/>
              </a:ext>
            </a:extLst>
          </p:cNvPr>
          <p:cNvPicPr/>
          <p:nvPr/>
        </p:nvPicPr>
        <p:blipFill>
          <a:blip r:embed="rId26" cstate="print"/>
          <a:srcRect t="4862"/>
          <a:stretch>
            <a:fillRect/>
          </a:stretch>
        </p:blipFill>
        <p:spPr>
          <a:xfrm>
            <a:off x="11105316" y="5460923"/>
            <a:ext cx="950455" cy="199997"/>
          </a:xfrm>
          <a:prstGeom prst="rect">
            <a:avLst/>
          </a:prstGeom>
          <a:ln>
            <a:noFill/>
          </a:ln>
        </p:spPr>
      </p:pic>
      <p:pic>
        <p:nvPicPr>
          <p:cNvPr id="149" name="图片 148" descr="Figure 2">
            <a:extLst>
              <a:ext uri="{FF2B5EF4-FFF2-40B4-BE49-F238E27FC236}">
                <a16:creationId xmlns:a16="http://schemas.microsoft.com/office/drawing/2014/main" id="{CA7D34BA-0AEC-ECF8-E47D-166A0D49B37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00"/>
          <a:stretch>
            <a:fillRect/>
          </a:stretch>
        </p:blipFill>
        <p:spPr>
          <a:xfrm>
            <a:off x="10725239" y="6475040"/>
            <a:ext cx="858929" cy="338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117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282726755@qq.com</dc:creator>
  <cp:lastModifiedBy>282726755@qq.com</cp:lastModifiedBy>
  <cp:revision>26</cp:revision>
  <dcterms:created xsi:type="dcterms:W3CDTF">2026-01-06T04:00:00Z</dcterms:created>
  <dcterms:modified xsi:type="dcterms:W3CDTF">2026-01-23T18:14:21Z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3F85374ACE3C4CA19EE73E61C10DADD7_13</vt:lpwstr>
  </property>
  <property fmtid="{D5CDD505-2E9C-101B-9397-08002B2CF9AE}" pid="3" name="KSOProductBuildVer">
    <vt:lpwstr>2052-12.1.0.24034</vt:lpwstr>
  </property>
</Properties>
</file>